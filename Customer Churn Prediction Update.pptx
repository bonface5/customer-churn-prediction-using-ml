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Urbanist Medium"/>
      <p:regular r:id="rId18"/>
      <p:bold r:id="rId19"/>
      <p:italic r:id="rId20"/>
      <p:boldItalic r:id="rId21"/>
    </p:embeddedFont>
    <p:embeddedFont>
      <p:font typeface="Urbanis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CA27AF1-9EA0-454F-A560-5B0AF5F97DCE}">
  <a:tblStyle styleId="{CCA27AF1-9EA0-454F-A560-5B0AF5F97DC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italic.fntdata"/><Relationship Id="rId22" Type="http://schemas.openxmlformats.org/officeDocument/2006/relationships/font" Target="fonts/Urbanist-regular.fntdata"/><Relationship Id="rId21" Type="http://schemas.openxmlformats.org/officeDocument/2006/relationships/font" Target="fonts/UrbanistMedium-boldItalic.fntdata"/><Relationship Id="rId24" Type="http://schemas.openxmlformats.org/officeDocument/2006/relationships/font" Target="fonts/Urbanist-italic.fntdata"/><Relationship Id="rId23" Type="http://schemas.openxmlformats.org/officeDocument/2006/relationships/font" Target="fonts/Urbanis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UrbanistMedium-bold.fntdata"/><Relationship Id="rId18" Type="http://schemas.openxmlformats.org/officeDocument/2006/relationships/font" Target="fonts/Urbanist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png"/><Relationship Id="rId10" Type="http://schemas.openxmlformats.org/officeDocument/2006/relationships/image" Target="../media/image8.png"/><Relationship Id="rId13" Type="http://schemas.openxmlformats.org/officeDocument/2006/relationships/image" Target="../media/image5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18.png"/><Relationship Id="rId5" Type="http://schemas.openxmlformats.org/officeDocument/2006/relationships/image" Target="../media/image12.png"/><Relationship Id="rId6" Type="http://schemas.openxmlformats.org/officeDocument/2006/relationships/image" Target="../media/image16.png"/><Relationship Id="rId7" Type="http://schemas.openxmlformats.org/officeDocument/2006/relationships/image" Target="../media/image1.png"/><Relationship Id="rId8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28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7.png"/><Relationship Id="rId10" Type="http://schemas.openxmlformats.org/officeDocument/2006/relationships/image" Target="../media/image29.png"/><Relationship Id="rId13" Type="http://schemas.openxmlformats.org/officeDocument/2006/relationships/image" Target="../media/image24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9" Type="http://schemas.openxmlformats.org/officeDocument/2006/relationships/image" Target="../media/image32.png"/><Relationship Id="rId15" Type="http://schemas.openxmlformats.org/officeDocument/2006/relationships/image" Target="../media/image25.png"/><Relationship Id="rId14" Type="http://schemas.openxmlformats.org/officeDocument/2006/relationships/image" Target="../media/image26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35.png"/><Relationship Id="rId5" Type="http://schemas.openxmlformats.org/officeDocument/2006/relationships/image" Target="../media/image33.png"/><Relationship Id="rId6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6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40.png"/><Relationship Id="rId6" Type="http://schemas.openxmlformats.org/officeDocument/2006/relationships/image" Target="../media/image31.png"/><Relationship Id="rId7" Type="http://schemas.openxmlformats.org/officeDocument/2006/relationships/image" Target="../media/image39.png"/><Relationship Id="rId8" Type="http://schemas.openxmlformats.org/officeDocument/2006/relationships/image" Target="../media/image4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42.png"/><Relationship Id="rId5" Type="http://schemas.openxmlformats.org/officeDocument/2006/relationships/image" Target="../media/image38.png"/><Relationship Id="rId6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85750" y="1614636"/>
            <a:ext cx="11906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PROJECT SUMMARY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85750" y="1938486"/>
            <a:ext cx="10371296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Customer Churn Prediction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Using </a:t>
            </a:r>
            <a:r>
              <a:rPr b="1" i="0" lang="en-US" sz="4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Machine Learning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85750" y="3708052"/>
            <a:ext cx="7143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Accurately predicting attrition to improve retention and profitability using advanced classification models.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2362200"/>
            <a:ext cx="2726531" cy="287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50406" y="2362200"/>
            <a:ext cx="2726531" cy="287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5062" y="2362200"/>
            <a:ext cx="2726531" cy="287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79718" y="2362200"/>
            <a:ext cx="2726531" cy="287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26574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81025" y="3324225"/>
            <a:ext cx="131016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Predict Churn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81025" y="3876675"/>
            <a:ext cx="2135981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Classify customers as likely to churn or remain active using machine learning classification models.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45681" y="26574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3545681" y="3324225"/>
            <a:ext cx="22402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Compare Performance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3545681" y="3876675"/>
            <a:ext cx="2135981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Evaluate models using F1-score and ROC-AUC with optimal decision thresholds.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10337" y="26574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6510337" y="3324225"/>
            <a:ext cx="146018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Identify Drivers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510337" y="3876675"/>
            <a:ext cx="2135981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Determine key factors influencing churn through feature importance analysis.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74993" y="26574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9474993" y="3324225"/>
            <a:ext cx="168021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Deploy Prototype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474993" y="3876675"/>
            <a:ext cx="2135981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Deliver a working prototype for the customer retention team to use in real-time.</a:t>
            </a:r>
            <a:endParaRPr/>
          </a:p>
        </p:txBody>
      </p:sp>
      <p:pic>
        <p:nvPicPr>
          <p:cNvPr descr="image.png" id="109" name="Google Shape;109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04850" y="27813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640931" y="27813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34162" y="27813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598818" y="27813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285750" y="285750"/>
            <a:ext cx="424053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Business Objectives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562100"/>
            <a:ext cx="55245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571625"/>
            <a:ext cx="55054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285750" y="2119312"/>
            <a:ext cx="55245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81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Key Attributes: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285750" y="3671887"/>
            <a:ext cx="552450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050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Preprocessing Pipeline: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5750" y="2176462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838200" y="25193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○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952500" y="251936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Demographics (Age, Gender, Senior Citizen)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38200" y="28241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○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952500" y="282416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Account Info (Tenure, Contract, Payment Method)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838200" y="31289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○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952500" y="312896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Services (Phone, Internet, Streaming)</a:t>
            </a:r>
            <a:endParaRPr/>
          </a:p>
        </p:txBody>
      </p:sp>
      <p:pic>
        <p:nvPicPr>
          <p:cNvPr descr="image.png" id="130" name="Google Shape;13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5750" y="372903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838200" y="40719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○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952500" y="407193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Handled missing values &amp; encoded variables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838200" y="43767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○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952500" y="437673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Balanced target using class weights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838200" y="46815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○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952500" y="468153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Scaled features for Logistic Regression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838200" y="49863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○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952500" y="498633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80/20 Train-Test split strategy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285750" y="285750"/>
            <a:ext cx="68408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Data Overview &amp; Preprocessing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2166937"/>
            <a:ext cx="2726531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50406" y="2166937"/>
            <a:ext cx="2726531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5062" y="2166937"/>
            <a:ext cx="2726531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79718" y="2166937"/>
            <a:ext cx="2726531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285750" y="5100637"/>
            <a:ext cx="116205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* All models were tuned with threshold optimization to maximize F1-score on the test set.</a:t>
            </a:r>
            <a:endParaRPr/>
          </a:p>
        </p:txBody>
      </p:sp>
      <p:pic>
        <p:nvPicPr>
          <p:cNvPr descr="image.png" id="150" name="Google Shape;15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246221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581025" y="3128962"/>
            <a:ext cx="178022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Logistic Regression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581025" y="3681412"/>
            <a:ext cx="2135981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Baseline linear model for establishing initial performance benchmarks.</a:t>
            </a:r>
            <a:endParaRPr/>
          </a:p>
        </p:txBody>
      </p:sp>
      <p:pic>
        <p:nvPicPr>
          <p:cNvPr descr="image.png" id="153" name="Google Shape;15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545681" y="246221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3545681" y="3128962"/>
            <a:ext cx="145018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Random Forest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3545681" y="3681412"/>
            <a:ext cx="2135981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Ensemble method using bagging to reduce variance and improve stability.</a:t>
            </a:r>
            <a:endParaRPr/>
          </a:p>
        </p:txBody>
      </p:sp>
      <p:pic>
        <p:nvPicPr>
          <p:cNvPr descr="image.png" id="156" name="Google Shape;156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10337" y="246221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6510337" y="3128962"/>
            <a:ext cx="84010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XGBoost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6510337" y="3681412"/>
            <a:ext cx="2135981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Gradient boosting framework designed for speed and performance.</a:t>
            </a:r>
            <a:endParaRPr/>
          </a:p>
        </p:txBody>
      </p:sp>
      <p:pic>
        <p:nvPicPr>
          <p:cNvPr descr="image.png" id="159" name="Google Shape;159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474993" y="246221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6"/>
          <p:cNvSpPr txBox="1"/>
          <p:nvPr/>
        </p:nvSpPr>
        <p:spPr>
          <a:xfrm>
            <a:off x="9474993" y="3128962"/>
            <a:ext cx="97012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LightGBM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9474993" y="3681412"/>
            <a:ext cx="2135981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Tree-based learning algorithm optimized for efficiency and accuracy.</a:t>
            </a:r>
            <a:endParaRPr/>
          </a:p>
        </p:txBody>
      </p:sp>
      <p:pic>
        <p:nvPicPr>
          <p:cNvPr descr="image.png" id="162" name="Google Shape;162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33425" y="2586037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683793" y="2586037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605587" y="258603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627393" y="2586037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6"/>
          <p:cNvSpPr txBox="1"/>
          <p:nvPr/>
        </p:nvSpPr>
        <p:spPr>
          <a:xfrm>
            <a:off x="285750" y="285750"/>
            <a:ext cx="43005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Modeling Approach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2" name="Google Shape;172;p17"/>
          <p:cNvGraphicFramePr/>
          <p:nvPr/>
        </p:nvGraphicFramePr>
        <p:xfrm>
          <a:off x="285750" y="21240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{CCA27AF1-9EA0-454F-A560-5B0AF5F97DCE}</a:tableStyleId>
              </a:tblPr>
              <a:tblGrid>
                <a:gridCol w="3421850"/>
                <a:gridCol w="2780250"/>
                <a:gridCol w="2334675"/>
                <a:gridCol w="3083725"/>
              </a:tblGrid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Model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Test F1 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ROC-AUC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Best Threshold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LightGBM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0.6600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0.6400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Random Forest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0.6562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0.6365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XGBoost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0.6562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0.6365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Logistic Regression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0.6385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0.5908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73" name="Google Shape;173;p17"/>
          <p:cNvSpPr/>
          <p:nvPr/>
        </p:nvSpPr>
        <p:spPr>
          <a:xfrm>
            <a:off x="285750" y="2733675"/>
            <a:ext cx="3421856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3707606" y="2733675"/>
            <a:ext cx="2780258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6487864" y="2733675"/>
            <a:ext cx="2334666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8822531" y="2733675"/>
            <a:ext cx="3083718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285750" y="3352800"/>
            <a:ext cx="3421856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285750" y="2847975"/>
            <a:ext cx="3421856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285750" y="2847975"/>
            <a:ext cx="9525" cy="5143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3707606" y="3352800"/>
            <a:ext cx="2780258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3707606" y="2847975"/>
            <a:ext cx="2780258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6487864" y="3352800"/>
            <a:ext cx="2334666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6487864" y="2847975"/>
            <a:ext cx="2334666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8822531" y="3352800"/>
            <a:ext cx="3083718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8822531" y="2847975"/>
            <a:ext cx="3083718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11896725" y="2847975"/>
            <a:ext cx="9525" cy="5143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285750" y="3962400"/>
            <a:ext cx="3421856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285750" y="3457575"/>
            <a:ext cx="3421856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285750" y="3457575"/>
            <a:ext cx="9525" cy="5143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3707606" y="3962400"/>
            <a:ext cx="2780258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3707606" y="3457575"/>
            <a:ext cx="2780258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6487864" y="3962400"/>
            <a:ext cx="2334666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6487864" y="3457575"/>
            <a:ext cx="2334666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8822531" y="3962400"/>
            <a:ext cx="3083718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8822531" y="3457575"/>
            <a:ext cx="3083718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/>
          <p:nvPr/>
        </p:nvSpPr>
        <p:spPr>
          <a:xfrm>
            <a:off x="11896725" y="3457575"/>
            <a:ext cx="9525" cy="5143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/>
          <p:nvPr/>
        </p:nvSpPr>
        <p:spPr>
          <a:xfrm>
            <a:off x="285750" y="4572000"/>
            <a:ext cx="3421856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/>
          <p:nvPr/>
        </p:nvSpPr>
        <p:spPr>
          <a:xfrm>
            <a:off x="285750" y="4067175"/>
            <a:ext cx="3421856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/>
          <p:nvPr/>
        </p:nvSpPr>
        <p:spPr>
          <a:xfrm>
            <a:off x="285750" y="4067175"/>
            <a:ext cx="9525" cy="5143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3707606" y="4572000"/>
            <a:ext cx="2780258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/>
          <p:nvPr/>
        </p:nvSpPr>
        <p:spPr>
          <a:xfrm>
            <a:off x="3707606" y="4067175"/>
            <a:ext cx="2780258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/>
          <p:nvPr/>
        </p:nvSpPr>
        <p:spPr>
          <a:xfrm>
            <a:off x="6487864" y="4572000"/>
            <a:ext cx="2334666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/>
          <p:cNvSpPr/>
          <p:nvPr/>
        </p:nvSpPr>
        <p:spPr>
          <a:xfrm>
            <a:off x="6487864" y="4067175"/>
            <a:ext cx="2334666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8822531" y="4572000"/>
            <a:ext cx="3083718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8822531" y="4067175"/>
            <a:ext cx="3083718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11896725" y="4067175"/>
            <a:ext cx="9525" cy="5143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285750" y="5181600"/>
            <a:ext cx="3421856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"/>
          <p:cNvSpPr/>
          <p:nvPr/>
        </p:nvSpPr>
        <p:spPr>
          <a:xfrm>
            <a:off x="285750" y="4676775"/>
            <a:ext cx="3421856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7"/>
          <p:cNvSpPr/>
          <p:nvPr/>
        </p:nvSpPr>
        <p:spPr>
          <a:xfrm>
            <a:off x="285750" y="4676775"/>
            <a:ext cx="9525" cy="5143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/>
          <p:nvPr/>
        </p:nvSpPr>
        <p:spPr>
          <a:xfrm>
            <a:off x="3707606" y="5181600"/>
            <a:ext cx="2780258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"/>
          <p:cNvSpPr/>
          <p:nvPr/>
        </p:nvSpPr>
        <p:spPr>
          <a:xfrm>
            <a:off x="3707606" y="4676775"/>
            <a:ext cx="2780258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6487864" y="5181600"/>
            <a:ext cx="2334666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7"/>
          <p:cNvSpPr/>
          <p:nvPr/>
        </p:nvSpPr>
        <p:spPr>
          <a:xfrm>
            <a:off x="6487864" y="4676775"/>
            <a:ext cx="2334666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7"/>
          <p:cNvSpPr/>
          <p:nvPr/>
        </p:nvSpPr>
        <p:spPr>
          <a:xfrm>
            <a:off x="8822531" y="5181600"/>
            <a:ext cx="3083718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7"/>
          <p:cNvSpPr/>
          <p:nvPr/>
        </p:nvSpPr>
        <p:spPr>
          <a:xfrm>
            <a:off x="8822531" y="4676775"/>
            <a:ext cx="3083718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7"/>
          <p:cNvSpPr/>
          <p:nvPr/>
        </p:nvSpPr>
        <p:spPr>
          <a:xfrm>
            <a:off x="11896725" y="4676775"/>
            <a:ext cx="9525" cy="5143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"/>
          <p:cNvSpPr txBox="1"/>
          <p:nvPr/>
        </p:nvSpPr>
        <p:spPr>
          <a:xfrm>
            <a:off x="285750" y="285750"/>
            <a:ext cx="65408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Model Performance Summary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8"/>
          <p:cNvSpPr txBox="1"/>
          <p:nvPr/>
        </p:nvSpPr>
        <p:spPr>
          <a:xfrm>
            <a:off x="4290774" y="1109662"/>
            <a:ext cx="3610451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Best Model: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2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LightGBM</a:t>
            </a:r>
            <a:endParaRPr/>
          </a:p>
        </p:txBody>
      </p:sp>
      <p:sp>
        <p:nvSpPr>
          <p:cNvPr id="224" name="Google Shape;224;p18"/>
          <p:cNvSpPr/>
          <p:nvPr/>
        </p:nvSpPr>
        <p:spPr>
          <a:xfrm>
            <a:off x="5524500" y="3014662"/>
            <a:ext cx="1143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 txBox="1"/>
          <p:nvPr/>
        </p:nvSpPr>
        <p:spPr>
          <a:xfrm>
            <a:off x="2652712" y="3567112"/>
            <a:ext cx="68865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00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Highest F1-Score (0.66)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Superior balance of precision and recall.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2652712" y="4071937"/>
            <a:ext cx="68865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29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Efficiency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Fast training times with excellent generalization.</a:t>
            </a:r>
            <a:endParaRPr/>
          </a:p>
        </p:txBody>
      </p:sp>
      <p:sp>
        <p:nvSpPr>
          <p:cNvPr id="227" name="Google Shape;227;p18"/>
          <p:cNvSpPr txBox="1"/>
          <p:nvPr/>
        </p:nvSpPr>
        <p:spPr>
          <a:xfrm>
            <a:off x="2652712" y="4576762"/>
            <a:ext cx="68865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286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Robustness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Strong performance even with class imbalance.</a:t>
            </a:r>
            <a:endParaRPr/>
          </a:p>
        </p:txBody>
      </p:sp>
      <p:pic>
        <p:nvPicPr>
          <p:cNvPr descr="image.png" id="228" name="Google Shape;22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2712" y="3586162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52712" y="4090987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52712" y="4595812"/>
            <a:ext cx="28575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"/>
          <p:cNvSpPr txBox="1"/>
          <p:nvPr/>
        </p:nvSpPr>
        <p:spPr>
          <a:xfrm>
            <a:off x="571500" y="942975"/>
            <a:ext cx="4950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Key </a:t>
            </a:r>
            <a:r>
              <a:rPr b="1" lang="en-US" sz="36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Insights From the Model LightGBM</a:t>
            </a:r>
            <a:endParaRPr/>
          </a:p>
        </p:txBody>
      </p:sp>
      <p:pic>
        <p:nvPicPr>
          <p:cNvPr descr="image.png" id="236" name="Google Shape;23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5979394" y="0"/>
            <a:ext cx="354726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8" name="Google Shape;238;p19"/>
          <p:cNvGrpSpPr/>
          <p:nvPr/>
        </p:nvGrpSpPr>
        <p:grpSpPr>
          <a:xfrm>
            <a:off x="685800" y="3047325"/>
            <a:ext cx="5026850" cy="2397375"/>
            <a:chOff x="876300" y="2295525"/>
            <a:chExt cx="5026850" cy="2397375"/>
          </a:xfrm>
        </p:grpSpPr>
        <p:sp>
          <p:nvSpPr>
            <p:cNvPr id="239" name="Google Shape;239;p19"/>
            <p:cNvSpPr txBox="1"/>
            <p:nvPr/>
          </p:nvSpPr>
          <p:spPr>
            <a:xfrm>
              <a:off x="876300" y="2295525"/>
              <a:ext cx="381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•</a:t>
              </a:r>
              <a:endParaRPr/>
            </a:p>
          </p:txBody>
        </p:sp>
        <p:sp>
          <p:nvSpPr>
            <p:cNvPr id="240" name="Google Shape;240;p19"/>
            <p:cNvSpPr txBox="1"/>
            <p:nvPr/>
          </p:nvSpPr>
          <p:spPr>
            <a:xfrm>
              <a:off x="952538" y="2332425"/>
              <a:ext cx="43338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3810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Customer Age</a:t>
              </a:r>
              <a:r>
                <a:rPr b="1" i="0" lang="en-US" sz="1500" u="none" cap="none" strike="noStrik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:</a:t>
              </a:r>
              <a:r>
                <a:rPr b="0" i="0" lang="en-US" sz="1500" u="none" cap="none" strike="noStrik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>
                  <a:solidFill>
                    <a:srgbClr val="38BDF8"/>
                  </a:solidFill>
                  <a:latin typeface="Urbanist"/>
                  <a:ea typeface="Urbanist"/>
                  <a:cs typeface="Urbanist"/>
                  <a:sym typeface="Urbanist"/>
                </a:rPr>
                <a:t>Younger Customers churn more</a:t>
              </a:r>
              <a:r>
                <a:rPr b="0" i="0" lang="en-US" sz="1500" u="none" cap="none" strike="noStrik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.</a:t>
              </a:r>
              <a:endParaRPr/>
            </a:p>
          </p:txBody>
        </p:sp>
        <p:sp>
          <p:nvSpPr>
            <p:cNvPr id="241" name="Google Shape;241;p19"/>
            <p:cNvSpPr txBox="1"/>
            <p:nvPr/>
          </p:nvSpPr>
          <p:spPr>
            <a:xfrm>
              <a:off x="876300" y="2695575"/>
              <a:ext cx="381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•</a:t>
              </a:r>
              <a:endParaRPr/>
            </a:p>
          </p:txBody>
        </p:sp>
        <p:sp>
          <p:nvSpPr>
            <p:cNvPr id="242" name="Google Shape;242;p19"/>
            <p:cNvSpPr txBox="1"/>
            <p:nvPr/>
          </p:nvSpPr>
          <p:spPr>
            <a:xfrm>
              <a:off x="952500" y="2695575"/>
              <a:ext cx="43338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3810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Tenure</a:t>
              </a:r>
              <a:r>
                <a:rPr b="1" i="0" lang="en-US" sz="1500" u="none" cap="none" strike="noStrik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:</a:t>
              </a:r>
              <a:r>
                <a:rPr b="0" i="0" lang="en-US" sz="1500" u="none" cap="none" strike="noStrik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>
                  <a:solidFill>
                    <a:srgbClr val="38BDF8"/>
                  </a:solidFill>
                  <a:latin typeface="Urbanist"/>
                  <a:ea typeface="Urbanist"/>
                  <a:cs typeface="Urbanist"/>
                  <a:sym typeface="Urbanist"/>
                </a:rPr>
                <a:t>New customers are at </a:t>
              </a:r>
              <a:r>
                <a:rPr lang="en-US" sz="1500">
                  <a:solidFill>
                    <a:srgbClr val="38BDF8"/>
                  </a:solidFill>
                  <a:latin typeface="Urbanist"/>
                  <a:ea typeface="Urbanist"/>
                  <a:cs typeface="Urbanist"/>
                  <a:sym typeface="Urbanist"/>
                </a:rPr>
                <a:t>highest</a:t>
              </a:r>
              <a:r>
                <a:rPr lang="en-US" sz="1500">
                  <a:solidFill>
                    <a:srgbClr val="38BDF8"/>
                  </a:solidFill>
                  <a:latin typeface="Urbanist"/>
                  <a:ea typeface="Urbanist"/>
                  <a:cs typeface="Urbanist"/>
                  <a:sym typeface="Urbanist"/>
                </a:rPr>
                <a:t> risk</a:t>
              </a:r>
              <a:r>
                <a:rPr b="0" i="0" lang="en-US" sz="1500" u="none" cap="none" strike="noStrik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.</a:t>
              </a:r>
              <a:endParaRPr/>
            </a:p>
          </p:txBody>
        </p:sp>
        <p:sp>
          <p:nvSpPr>
            <p:cNvPr id="243" name="Google Shape;243;p19"/>
            <p:cNvSpPr txBox="1"/>
            <p:nvPr/>
          </p:nvSpPr>
          <p:spPr>
            <a:xfrm>
              <a:off x="876300" y="3058725"/>
              <a:ext cx="381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•</a:t>
              </a:r>
              <a:endParaRPr/>
            </a:p>
          </p:txBody>
        </p:sp>
        <p:sp>
          <p:nvSpPr>
            <p:cNvPr id="244" name="Google Shape;244;p19"/>
            <p:cNvSpPr txBox="1"/>
            <p:nvPr/>
          </p:nvSpPr>
          <p:spPr>
            <a:xfrm>
              <a:off x="952500" y="3058725"/>
              <a:ext cx="48891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3810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Support Calls</a:t>
              </a:r>
              <a:r>
                <a:rPr b="1" i="0" lang="en-US" sz="1500" u="none" cap="none" strike="noStrik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:</a:t>
              </a:r>
              <a:r>
                <a:rPr b="0" i="0" lang="en-US" sz="1500" u="none" cap="none" strike="noStrik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>
                  <a:solidFill>
                    <a:srgbClr val="38BDF8"/>
                  </a:solidFill>
                  <a:latin typeface="Urbanist"/>
                  <a:ea typeface="Urbanist"/>
                  <a:cs typeface="Urbanist"/>
                  <a:sym typeface="Urbanist"/>
                </a:rPr>
                <a:t>Frequent complaints strongly signal churn </a:t>
              </a:r>
              <a:r>
                <a:rPr b="0" i="0" lang="en-US" sz="1500" u="none" cap="none" strike="noStrik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.</a:t>
              </a:r>
              <a:endParaRPr/>
            </a:p>
          </p:txBody>
        </p:sp>
        <p:sp>
          <p:nvSpPr>
            <p:cNvPr id="245" name="Google Shape;245;p19"/>
            <p:cNvSpPr txBox="1"/>
            <p:nvPr/>
          </p:nvSpPr>
          <p:spPr>
            <a:xfrm>
              <a:off x="876300" y="3386438"/>
              <a:ext cx="381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•</a:t>
              </a:r>
              <a:endParaRPr/>
            </a:p>
          </p:txBody>
        </p:sp>
        <p:sp>
          <p:nvSpPr>
            <p:cNvPr id="246" name="Google Shape;246;p19"/>
            <p:cNvSpPr txBox="1"/>
            <p:nvPr/>
          </p:nvSpPr>
          <p:spPr>
            <a:xfrm>
              <a:off x="921750" y="3403350"/>
              <a:ext cx="49506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3810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Usage Frequency</a:t>
              </a:r>
              <a:r>
                <a:rPr b="1" i="0" lang="en-US" sz="1500" u="none" cap="none" strike="noStrik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:</a:t>
              </a:r>
              <a:r>
                <a:rPr b="0" i="0" lang="en-US" sz="1500" u="none" cap="none" strike="noStrik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>
                  <a:solidFill>
                    <a:srgbClr val="38BDF8"/>
                  </a:solidFill>
                  <a:latin typeface="Urbanist"/>
                  <a:ea typeface="Urbanist"/>
                  <a:cs typeface="Urbanist"/>
                  <a:sym typeface="Urbanist"/>
                </a:rPr>
                <a:t>Low/declining usage predicts churn</a:t>
              </a:r>
              <a:r>
                <a:rPr b="0" i="0" lang="en-US" sz="1500" u="none" cap="none" strike="noStrike">
                  <a:solidFill>
                    <a:srgbClr val="38BDF8"/>
                  </a:solidFill>
                  <a:latin typeface="Urbanist"/>
                  <a:ea typeface="Urbanist"/>
                  <a:cs typeface="Urbanist"/>
                  <a:sym typeface="Urbanist"/>
                </a:rPr>
                <a:t>.</a:t>
              </a:r>
              <a:endParaRPr>
                <a:solidFill>
                  <a:srgbClr val="38BDF8"/>
                </a:solidFill>
              </a:endParaRPr>
            </a:p>
          </p:txBody>
        </p:sp>
        <p:sp>
          <p:nvSpPr>
            <p:cNvPr id="247" name="Google Shape;247;p19"/>
            <p:cNvSpPr txBox="1"/>
            <p:nvPr/>
          </p:nvSpPr>
          <p:spPr>
            <a:xfrm>
              <a:off x="876300" y="3760313"/>
              <a:ext cx="381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•</a:t>
              </a:r>
              <a:endParaRPr/>
            </a:p>
          </p:txBody>
        </p:sp>
        <p:sp>
          <p:nvSpPr>
            <p:cNvPr id="248" name="Google Shape;248;p19"/>
            <p:cNvSpPr txBox="1"/>
            <p:nvPr/>
          </p:nvSpPr>
          <p:spPr>
            <a:xfrm>
              <a:off x="952550" y="3747975"/>
              <a:ext cx="49506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3810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Last Interaction</a:t>
              </a:r>
              <a:r>
                <a:rPr b="1" i="0" lang="en-US" sz="1500" u="none" cap="none" strike="noStrik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:</a:t>
              </a:r>
              <a:r>
                <a:rPr b="0" i="0" lang="en-US" sz="1500" u="none" cap="none" strike="noStrik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>
                  <a:solidFill>
                    <a:srgbClr val="38BDF8"/>
                  </a:solidFill>
                  <a:latin typeface="Urbanist"/>
                  <a:ea typeface="Urbanist"/>
                  <a:cs typeface="Urbanist"/>
                  <a:sym typeface="Urbanist"/>
                </a:rPr>
                <a:t>Customers who have not </a:t>
              </a:r>
              <a:r>
                <a:rPr lang="en-US" sz="1500">
                  <a:solidFill>
                    <a:srgbClr val="38BDF8"/>
                  </a:solidFill>
                  <a:latin typeface="Urbanist"/>
                  <a:ea typeface="Urbanist"/>
                  <a:cs typeface="Urbanist"/>
                  <a:sym typeface="Urbanist"/>
                </a:rPr>
                <a:t>engaged</a:t>
              </a:r>
              <a:r>
                <a:rPr lang="en-US" sz="1500">
                  <a:solidFill>
                    <a:srgbClr val="38BDF8"/>
                  </a:solidFill>
                  <a:latin typeface="Urbanist"/>
                  <a:ea typeface="Urbanist"/>
                  <a:cs typeface="Urbanist"/>
                  <a:sym typeface="Urbanist"/>
                </a:rPr>
                <a:t> recently are drifting away</a:t>
              </a:r>
              <a:r>
                <a:rPr lang="en-US" sz="150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.</a:t>
              </a:r>
              <a:endParaRPr/>
            </a:p>
          </p:txBody>
        </p:sp>
        <p:sp>
          <p:nvSpPr>
            <p:cNvPr id="249" name="Google Shape;249;p19"/>
            <p:cNvSpPr txBox="1"/>
            <p:nvPr/>
          </p:nvSpPr>
          <p:spPr>
            <a:xfrm>
              <a:off x="952550" y="4461900"/>
              <a:ext cx="45696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3810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Payment Delay</a:t>
              </a:r>
              <a:r>
                <a:rPr b="1" i="0" lang="en-US" sz="1500" u="none" cap="none" strike="noStrik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:</a:t>
              </a:r>
              <a:r>
                <a:rPr b="0" i="0" lang="en-US" sz="1500" u="none" cap="none" strike="noStrik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500">
                  <a:solidFill>
                    <a:srgbClr val="38BDF8"/>
                  </a:solidFill>
                  <a:latin typeface="Urbanist"/>
                  <a:ea typeface="Urbanist"/>
                  <a:cs typeface="Urbanist"/>
                  <a:sym typeface="Urbanist"/>
                </a:rPr>
                <a:t>Late payments correlate with churn</a:t>
              </a:r>
              <a:r>
                <a:rPr b="0" i="0" lang="en-US" sz="1500" u="none" cap="none" strike="noStrik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.</a:t>
              </a:r>
              <a:endParaRPr/>
            </a:p>
          </p:txBody>
        </p:sp>
        <p:sp>
          <p:nvSpPr>
            <p:cNvPr id="250" name="Google Shape;250;p19"/>
            <p:cNvSpPr txBox="1"/>
            <p:nvPr/>
          </p:nvSpPr>
          <p:spPr>
            <a:xfrm>
              <a:off x="876300" y="4461900"/>
              <a:ext cx="381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•</a:t>
              </a:r>
              <a:endParaRPr/>
            </a:p>
          </p:txBody>
        </p:sp>
      </p:grpSp>
      <p:sp>
        <p:nvSpPr>
          <p:cNvPr id="251" name="Google Shape;251;p19"/>
          <p:cNvSpPr txBox="1"/>
          <p:nvPr/>
        </p:nvSpPr>
        <p:spPr>
          <a:xfrm>
            <a:off x="571500" y="2163850"/>
            <a:ext cx="5611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Based on the feature importance visualization, the LightGBM model identified the following top predictors of customer churn: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9"/>
          <p:cNvSpPr txBox="1"/>
          <p:nvPr/>
        </p:nvSpPr>
        <p:spPr>
          <a:xfrm>
            <a:off x="685800" y="5871150"/>
            <a:ext cx="5611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These features give the business clear, actionable targets for reducing churn.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857375"/>
            <a:ext cx="5524500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3800475"/>
            <a:ext cx="5524500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57375"/>
            <a:ext cx="5524500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800475"/>
            <a:ext cx="5524500" cy="17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0"/>
          <p:cNvSpPr txBox="1"/>
          <p:nvPr/>
        </p:nvSpPr>
        <p:spPr>
          <a:xfrm>
            <a:off x="581025" y="2152650"/>
            <a:ext cx="225028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Value Optimization</a:t>
            </a: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581025" y="2705100"/>
            <a:ext cx="4933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Review pricing structures for Fiber-optic plans and offer loyalty discounts to offset high monthly charges.</a:t>
            </a: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581025" y="4095750"/>
            <a:ext cx="227028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Contract Incentives</a:t>
            </a: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581025" y="4648200"/>
            <a:ext cx="4933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Migrate month-to-month users to annual contracts using limited-time promotions to lock in retention.</a:t>
            </a:r>
            <a:endParaRPr/>
          </a:p>
        </p:txBody>
      </p:sp>
      <p:sp>
        <p:nvSpPr>
          <p:cNvPr id="266" name="Google Shape;266;p20"/>
          <p:cNvSpPr txBox="1"/>
          <p:nvPr/>
        </p:nvSpPr>
        <p:spPr>
          <a:xfrm>
            <a:off x="6677025" y="2152650"/>
            <a:ext cx="226028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Payment Migration</a:t>
            </a:r>
            <a:endParaRPr/>
          </a:p>
        </p:txBody>
      </p:sp>
      <p:sp>
        <p:nvSpPr>
          <p:cNvPr id="267" name="Google Shape;267;p20"/>
          <p:cNvSpPr txBox="1"/>
          <p:nvPr/>
        </p:nvSpPr>
        <p:spPr>
          <a:xfrm>
            <a:off x="6677025" y="2705100"/>
            <a:ext cx="4933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Incentivize customers to switch from Electronic Check to auto-pay methods (Credit Card/Bank Transfer) for better stability.</a:t>
            </a:r>
            <a:endParaRPr/>
          </a:p>
        </p:txBody>
      </p:sp>
      <p:sp>
        <p:nvSpPr>
          <p:cNvPr id="268" name="Google Shape;268;p20"/>
          <p:cNvSpPr txBox="1"/>
          <p:nvPr/>
        </p:nvSpPr>
        <p:spPr>
          <a:xfrm>
            <a:off x="6677025" y="4095750"/>
            <a:ext cx="2850356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Experience Enhancement</a:t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6677025" y="4648200"/>
            <a:ext cx="4933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Investigate service quality issues specifically within the Fiber-optic segment to address root causes of dissatisfaction.</a:t>
            </a:r>
            <a:endParaRPr/>
          </a:p>
        </p:txBody>
      </p:sp>
      <p:pic>
        <p:nvPicPr>
          <p:cNvPr descr="image.png" id="270" name="Google Shape;27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171700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114800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2171700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77025" y="4114800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0"/>
          <p:cNvSpPr txBox="1"/>
          <p:nvPr/>
        </p:nvSpPr>
        <p:spPr>
          <a:xfrm>
            <a:off x="285750" y="285750"/>
            <a:ext cx="612076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Strategic Recommendations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9" name="Google Shape;27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1"/>
          <p:cNvSpPr txBox="1"/>
          <p:nvPr/>
        </p:nvSpPr>
        <p:spPr>
          <a:xfrm>
            <a:off x="6905625" y="1157287"/>
            <a:ext cx="49506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Conclusion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6905625" y="2090737"/>
            <a:ext cx="47148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project successfully developed a robust machine learning system for predicting customer churn.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LightGBM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outperformed all other models and is recommended for deployment.</a:t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6905625" y="3690937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This tool empowers the company to:</a:t>
            </a:r>
            <a:endParaRPr/>
          </a:p>
        </p:txBody>
      </p:sp>
      <p:sp>
        <p:nvSpPr>
          <p:cNvPr id="284" name="Google Shape;284;p21"/>
          <p:cNvSpPr txBox="1"/>
          <p:nvPr/>
        </p:nvSpPr>
        <p:spPr>
          <a:xfrm>
            <a:off x="7439025" y="4329112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85" name="Google Shape;285;p21"/>
          <p:cNvSpPr txBox="1"/>
          <p:nvPr/>
        </p:nvSpPr>
        <p:spPr>
          <a:xfrm>
            <a:off x="7477125" y="4329112"/>
            <a:ext cx="4143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Reduce churn rates proactively</a:t>
            </a:r>
            <a:endParaRPr/>
          </a:p>
        </p:txBody>
      </p:sp>
      <p:sp>
        <p:nvSpPr>
          <p:cNvPr id="286" name="Google Shape;286;p21"/>
          <p:cNvSpPr txBox="1"/>
          <p:nvPr/>
        </p:nvSpPr>
        <p:spPr>
          <a:xfrm>
            <a:off x="7439025" y="4633912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87" name="Google Shape;287;p21"/>
          <p:cNvSpPr txBox="1"/>
          <p:nvPr/>
        </p:nvSpPr>
        <p:spPr>
          <a:xfrm>
            <a:off x="7477125" y="4633912"/>
            <a:ext cx="4143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Improve customer satisfaction</a:t>
            </a:r>
            <a:endParaRPr/>
          </a:p>
        </p:txBody>
      </p:sp>
      <p:sp>
        <p:nvSpPr>
          <p:cNvPr id="288" name="Google Shape;288;p21"/>
          <p:cNvSpPr txBox="1"/>
          <p:nvPr/>
        </p:nvSpPr>
        <p:spPr>
          <a:xfrm>
            <a:off x="7439025" y="4938712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89" name="Google Shape;289;p21"/>
          <p:cNvSpPr txBox="1"/>
          <p:nvPr/>
        </p:nvSpPr>
        <p:spPr>
          <a:xfrm>
            <a:off x="7477125" y="4938712"/>
            <a:ext cx="4143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Increase long-term revenue</a:t>
            </a:r>
            <a:endParaRPr/>
          </a:p>
        </p:txBody>
      </p:sp>
      <p:sp>
        <p:nvSpPr>
          <p:cNvPr id="290" name="Google Shape;290;p21"/>
          <p:cNvSpPr txBox="1"/>
          <p:nvPr/>
        </p:nvSpPr>
        <p:spPr>
          <a:xfrm>
            <a:off x="7439025" y="5243512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91" name="Google Shape;291;p21"/>
          <p:cNvSpPr txBox="1"/>
          <p:nvPr/>
        </p:nvSpPr>
        <p:spPr>
          <a:xfrm>
            <a:off x="7477125" y="5243512"/>
            <a:ext cx="4143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Make data-driven retention decisions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6" name="Google Shape;29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2"/>
          <p:cNvSpPr txBox="1"/>
          <p:nvPr/>
        </p:nvSpPr>
        <p:spPr>
          <a:xfrm>
            <a:off x="4735830" y="2154584"/>
            <a:ext cx="27203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Q &amp; A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4662487" y="3488084"/>
            <a:ext cx="28670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Thank you for your attention.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3" name="Google Shape;30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3"/>
          <p:cNvSpPr/>
          <p:nvPr/>
        </p:nvSpPr>
        <p:spPr>
          <a:xfrm>
            <a:off x="285750" y="2532757"/>
            <a:ext cx="116205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3"/>
          <p:cNvSpPr/>
          <p:nvPr/>
        </p:nvSpPr>
        <p:spPr>
          <a:xfrm>
            <a:off x="285750" y="3317527"/>
            <a:ext cx="116205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3"/>
          <p:cNvSpPr/>
          <p:nvPr/>
        </p:nvSpPr>
        <p:spPr>
          <a:xfrm>
            <a:off x="285750" y="3308002"/>
            <a:ext cx="11620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3"/>
          <p:cNvSpPr/>
          <p:nvPr/>
        </p:nvSpPr>
        <p:spPr>
          <a:xfrm>
            <a:off x="285750" y="3308002"/>
            <a:ext cx="11620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285750" y="4092773"/>
            <a:ext cx="11620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3"/>
          <p:cNvSpPr/>
          <p:nvPr/>
        </p:nvSpPr>
        <p:spPr>
          <a:xfrm>
            <a:off x="285750" y="4092773"/>
            <a:ext cx="11620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0" name="Google Shape;31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268218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3"/>
          <p:cNvSpPr txBox="1"/>
          <p:nvPr/>
        </p:nvSpPr>
        <p:spPr>
          <a:xfrm>
            <a:off x="1381125" y="2675632"/>
            <a:ext cx="105251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https://www.aisoma.de/wp-content/uploads/2019/09/ML_techniques-1024x561.jpg</a:t>
            </a:r>
            <a:endParaRPr/>
          </a:p>
        </p:txBody>
      </p:sp>
      <p:sp>
        <p:nvSpPr>
          <p:cNvPr id="312" name="Google Shape;312;p23"/>
          <p:cNvSpPr txBox="1"/>
          <p:nvPr/>
        </p:nvSpPr>
        <p:spPr>
          <a:xfrm>
            <a:off x="1381125" y="2921347"/>
            <a:ext cx="105251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www.aisoma.de</a:t>
            </a:r>
            <a:endParaRPr/>
          </a:p>
        </p:txBody>
      </p:sp>
      <p:pic>
        <p:nvPicPr>
          <p:cNvPr descr="image.png" id="313" name="Google Shape;31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750" y="346695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3"/>
          <p:cNvSpPr txBox="1"/>
          <p:nvPr/>
        </p:nvSpPr>
        <p:spPr>
          <a:xfrm>
            <a:off x="1381125" y="3460402"/>
            <a:ext cx="105251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https://electricway.com/wp-content/uploads/2023/07/fiber-optic-cables1-1.jpg</a:t>
            </a:r>
            <a:endParaRPr/>
          </a:p>
        </p:txBody>
      </p:sp>
      <p:sp>
        <p:nvSpPr>
          <p:cNvPr id="315" name="Google Shape;315;p23"/>
          <p:cNvSpPr txBox="1"/>
          <p:nvPr/>
        </p:nvSpPr>
        <p:spPr>
          <a:xfrm>
            <a:off x="1381125" y="3706117"/>
            <a:ext cx="105251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electricway.com</a:t>
            </a:r>
            <a:endParaRPr/>
          </a:p>
        </p:txBody>
      </p:sp>
      <p:pic>
        <p:nvPicPr>
          <p:cNvPr descr="image.png" id="316" name="Google Shape;31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5750" y="425172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3"/>
          <p:cNvSpPr txBox="1"/>
          <p:nvPr/>
        </p:nvSpPr>
        <p:spPr>
          <a:xfrm>
            <a:off x="1381125" y="4245173"/>
            <a:ext cx="105251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https://media.zoom.com/images/assets/customer-retention-strategies-hero.webp/Zz1iZDVkZDM0NjdjNjYxMWYwYjdlZTg2N2I3NjhmYjlkZg==</a:t>
            </a:r>
            <a:endParaRPr/>
          </a:p>
        </p:txBody>
      </p:sp>
      <p:sp>
        <p:nvSpPr>
          <p:cNvPr id="318" name="Google Shape;318;p23"/>
          <p:cNvSpPr txBox="1"/>
          <p:nvPr/>
        </p:nvSpPr>
        <p:spPr>
          <a:xfrm>
            <a:off x="1381125" y="4490888"/>
            <a:ext cx="105251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www.zoom.com</a:t>
            </a:r>
            <a:endParaRPr/>
          </a:p>
        </p:txBody>
      </p:sp>
      <p:sp>
        <p:nvSpPr>
          <p:cNvPr id="319" name="Google Shape;319;p23"/>
          <p:cNvSpPr txBox="1"/>
          <p:nvPr/>
        </p:nvSpPr>
        <p:spPr>
          <a:xfrm>
            <a:off x="285750" y="28575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